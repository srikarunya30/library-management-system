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24"/>
  </p:notesMasterIdLst>
  <p:sldIdLst>
    <p:sldId id="257" r:id="rId3"/>
    <p:sldId id="258" r:id="rId4"/>
    <p:sldId id="260" r:id="rId5"/>
    <p:sldId id="259" r:id="rId6"/>
    <p:sldId id="282" r:id="rId7"/>
    <p:sldId id="285" r:id="rId8"/>
    <p:sldId id="283" r:id="rId9"/>
    <p:sldId id="284" r:id="rId10"/>
    <p:sldId id="276" r:id="rId11"/>
    <p:sldId id="265" r:id="rId12"/>
    <p:sldId id="292" r:id="rId13"/>
    <p:sldId id="281" r:id="rId14"/>
    <p:sldId id="286" r:id="rId15"/>
    <p:sldId id="287" r:id="rId16"/>
    <p:sldId id="288" r:id="rId17"/>
    <p:sldId id="289" r:id="rId18"/>
    <p:sldId id="290" r:id="rId19"/>
    <p:sldId id="291" r:id="rId20"/>
    <p:sldId id="271" r:id="rId21"/>
    <p:sldId id="272" r:id="rId22"/>
    <p:sldId id="274" r:id="rId23"/>
  </p:sldIdLst>
  <p:sldSz cx="12192000" cy="685800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137" autoAdjust="0"/>
  </p:normalViewPr>
  <p:slideViewPr>
    <p:cSldViewPr snapToGrid="0" showGuides="1">
      <p:cViewPr varScale="1">
        <p:scale>
          <a:sx n="68" d="100"/>
          <a:sy n="68" d="100"/>
        </p:scale>
        <p:origin x="1234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4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878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78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4878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4878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4878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Google Shape;142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590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591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153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05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06" name="Google Shape;155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71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17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8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162;p3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11" name="Google Shape;1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2" name="Google Shape;164;p3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23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24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23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24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23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24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23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24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46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47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46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47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75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76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81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82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91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92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6;p2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7;p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583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Google Shape;20;p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52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9pPr>
          </a:lstStyle>
          <a:p>
            <a:endParaRPr/>
          </a:p>
        </p:txBody>
      </p:sp>
      <p:sp>
        <p:nvSpPr>
          <p:cNvPr id="1048753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54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Google Shape;25;p4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66" name="Google Shape;26;p4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67" name="Google Shape;27;p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6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70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048771" name="Google Shape;32;p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72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Google Shape;35;p6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74" name="Google Shape;36;p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775" name="Google Shape;37;p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776" name="Google Shape;38;p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77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Google Shape;41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37" name="Google Shape;42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738" name="Google Shape;43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48739" name="Google Shape;44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740" name="Google Shape;45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48741" name="Google Shape;46;p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42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79" name="Google Shape;50;p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80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Google Shape;53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82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Google Shape;56;p1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56" name="Google Shape;57;p10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048757" name="Google Shape;58;p10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758" name="Google Shape;59;p1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59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Google Shape;62;p1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61" name="Google Shape;63;p1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762" name="Google Shape;64;p1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763" name="Google Shape;65;p1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64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Google Shape;68;p12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8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9" name="Google Shape;70;p1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50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Google Shape;73;p13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45" name="Google Shape;75;p1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4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84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8" name="Google Shape;85;p1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9" name="Google Shape;86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600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Google Shape;89;p16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9" name="Google Shape;90;p1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9pPr>
          </a:lstStyle>
          <a:p>
            <a:endParaRPr/>
          </a:p>
        </p:txBody>
      </p:sp>
      <p:sp>
        <p:nvSpPr>
          <p:cNvPr id="1048720" name="Google Shape;91;p1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21" name="Google Shape;92;p1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Google Shape;94;p17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5" name="Google Shape;95;p1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048716" name="Google Shape;96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1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Google Shape;99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32" name="Google Shape;100;p18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733" name="Google Shape;101;p18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734" name="Google Shape;102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35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Google Shape;105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25" name="Google Shape;106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726" name="Google Shape;107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48727" name="Google Shape;108;p1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728" name="Google Shape;109;p1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48729" name="Google Shape;110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30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Google Shape;113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4" name="Google Shape;114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69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Google Shape;11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23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Google Shape;120;p22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0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048702" name="Google Shape;122;p22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703" name="Google Shape;123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04" name="Google Shape;124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Google Shape;126;p2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06" name="Google Shape;127;p2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707" name="Google Shape;128;p2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708" name="Google Shape;129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09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Google Shape;132;p2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1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12" name="Google Shape;134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713" name="Google Shape;135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Google Shape;137;p25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7" name="Google Shape;138;p25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8" name="Google Shape;139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699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77" name="Google Shape;11;p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578" name="Google Shape;12;p1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8579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048580" name="Google Shape;14;p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–"/>
              <a:def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•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–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»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78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93" name="Google Shape;79;p1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–"/>
              <a:def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•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–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»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48594" name="Google Shape;80;p1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/>
              <a:t>2/6/2025</a:t>
            </a:r>
          </a:p>
        </p:txBody>
      </p:sp>
      <p:sp>
        <p:nvSpPr>
          <p:cNvPr id="1048595" name="Google Shape;81;p14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8596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jpe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jpe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Google Shape;147;p26"/>
          <p:cNvSpPr/>
          <p:nvPr/>
        </p:nvSpPr>
        <p:spPr>
          <a:xfrm>
            <a:off x="1679575" y="-1684338"/>
            <a:ext cx="3543300" cy="351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097152" name="Google Shape;148;p2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300038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5" name="Google Shape;149;p26"/>
          <p:cNvSpPr/>
          <p:nvPr/>
        </p:nvSpPr>
        <p:spPr>
          <a:xfrm>
            <a:off x="2029618" y="414338"/>
            <a:ext cx="8437563" cy="301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K. RAMAKRISHNAN COLLEGE OF ENGINEERING</a:t>
            </a: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(AUTONOMOUS), SAMAYAPURAM – TRICHY</a:t>
            </a:r>
            <a:endParaRPr lang="en-GB" sz="2000" b="1" i="0" u="none" strike="noStrike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</a:t>
            </a: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MACHINE LEARNING</a:t>
            </a:r>
            <a:endParaRPr lang="en-GB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CGB1221</a:t>
            </a:r>
            <a:r>
              <a:rPr lang="en-GB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 DATABASE MANAGEMENT SYSTEM</a:t>
            </a: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endParaRPr sz="20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endParaRPr sz="2000" b="1" i="0" u="none" strike="noStrike" cap="none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53" name="Google Shape;150;p26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44150" y="260350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Google Shape;151;p26"/>
          <p:cNvSpPr txBox="1"/>
          <p:nvPr/>
        </p:nvSpPr>
        <p:spPr>
          <a:xfrm>
            <a:off x="1085401" y="3137852"/>
            <a:ext cx="9838531" cy="582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LIBRARY MANAGEMENT SYSTEM</a:t>
            </a:r>
          </a:p>
        </p:txBody>
      </p:sp>
      <p:sp>
        <p:nvSpPr>
          <p:cNvPr id="1048587" name="Date Placeholder 7"/>
          <p:cNvSpPr>
            <a:spLocks noGrp="1"/>
          </p:cNvSpPr>
          <p:nvPr>
            <p:ph type="dt" idx="10"/>
          </p:nvPr>
        </p:nvSpPr>
        <p:spPr>
          <a:xfrm>
            <a:off x="608012" y="6352317"/>
            <a:ext cx="2843213" cy="363538"/>
          </a:xfrm>
        </p:spPr>
        <p:txBody>
          <a:bodyPr/>
          <a:lstStyle/>
          <a:p>
            <a:r>
              <a:rPr lang="en-US"/>
              <a:t>2/6/2025</a:t>
            </a:r>
            <a:endParaRPr lang="en-US" dirty="0"/>
          </a:p>
        </p:txBody>
      </p:sp>
      <p:sp>
        <p:nvSpPr>
          <p:cNvPr id="1048588" name="Google Shape;146;p26"/>
          <p:cNvSpPr txBox="1"/>
          <p:nvPr/>
        </p:nvSpPr>
        <p:spPr>
          <a:xfrm>
            <a:off x="-1" y="3929380"/>
            <a:ext cx="11808179" cy="2786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PRESENTED BY                                                              SUPERVISOR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lvl="0" algn="just">
              <a:lnSpc>
                <a:spcPct val="150000"/>
              </a:lnSpc>
              <a:buSzPts val="2400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SRI KARUNYA S </a:t>
            </a:r>
            <a:r>
              <a:rPr lang="en-US" sz="2400" b="1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S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K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                        	   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Mr. </a:t>
            </a:r>
            <a:r>
              <a:rPr lang="en-GB" sz="2400" b="1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P.Nagaraj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, M.E.,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8115U24AM052                                  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     Assistant Professor / A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I&amp;ML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	</a:t>
            </a: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of Review : 06.05.2026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157;p27"/>
          <p:cNvSpPr txBox="1">
            <a:spLocks noGrp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PRESENTATION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OVERVIEW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2" name="Google Shape;158;p27"/>
          <p:cNvSpPr txBox="1"/>
          <p:nvPr/>
        </p:nvSpPr>
        <p:spPr>
          <a:xfrm>
            <a:off x="831850" y="1514475"/>
            <a:ext cx="9822898" cy="469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847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alt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Problem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altLang="en-US" sz="18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AutoNum type="arabicPeriod"/>
            </a:pPr>
            <a:r>
              <a:rPr lang="en-US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altLang="en-US"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AutoNum type="arabicPeriod"/>
            </a:pPr>
            <a:r>
              <a:rPr lang="en-US" alt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Used</a:t>
            </a:r>
            <a:endParaRPr lang="en-US" altLang="en-US"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AutoNum type="arabicPeriod"/>
            </a:pP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zh-CN" altLang="en-US" dirty="0"/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4" name="Google Shape;159;p2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oogle Shape;160;p27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75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OBJECTIVE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Google Shape;176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Google Shape;177;p29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D5782C60-7409-E5EB-72B0-6ECD4B2EE4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94188" y="1315392"/>
            <a:ext cx="815816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automate library operations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maintain book details in a structured database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manage members, staff, issue, and return records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errors in manual record keeping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quick search and easy report generation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Google Shape;166;p2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PROBLEM ANALYSIS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6" name="Google Shape;168;p2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7" name="Google Shape;169;p28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22F0905-B561-5FCD-578B-D04AB59F8D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5987" y="1514475"/>
            <a:ext cx="920155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library management takes more time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Maintaining records on paper can lead to loss of data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Searching for books and member details is difficult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Issue and return tracking becomes confusing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 calculation and report preparation are not easy manually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184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  <a:buSzPts val="30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3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0" name="Google Shape;185;p3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1" name="Google Shape;186;p30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4CE563-279A-4E7F-28B5-E1FA6F61B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6425" y="1621480"/>
            <a:ext cx="7174466" cy="47829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01725-9144-8DAD-2F07-246A6BF23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5792" y="503071"/>
            <a:ext cx="4040271" cy="507582"/>
          </a:xfrm>
        </p:spPr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METHODOLOGY </a:t>
            </a:r>
            <a:endParaRPr lang="en-IN" sz="3000" dirty="0"/>
          </a:p>
        </p:txBody>
      </p:sp>
      <p:pic>
        <p:nvPicPr>
          <p:cNvPr id="5" name="Google Shape;168;p28">
            <a:extLst>
              <a:ext uri="{FF2B5EF4-FFF2-40B4-BE49-F238E27FC236}">
                <a16:creationId xmlns:a16="http://schemas.microsoft.com/office/drawing/2014/main" id="{A045D522-D09C-C798-5676-0272D9F0C5AD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9;p28" descr="KRCE Tiruchirappalli : Admission 2024, Courses, Fees, Placement, Cut Off">
            <a:extLst>
              <a:ext uri="{FF2B5EF4-FFF2-40B4-BE49-F238E27FC236}">
                <a16:creationId xmlns:a16="http://schemas.microsoft.com/office/drawing/2014/main" id="{81CF5E42-1FA4-2C2D-8CC7-D8140B5624A1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F8278344-CB0C-7548-BEA2-8CEB3DEA180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65250" y="1091950"/>
            <a:ext cx="922421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 collection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using ER model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Entity and attribute identification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 creation and relationship mapping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 design for data entry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 design for retrieval and reports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and validation </a:t>
            </a:r>
          </a:p>
        </p:txBody>
      </p:sp>
    </p:spTree>
    <p:extLst>
      <p:ext uri="{BB962C8B-B14F-4D97-AF65-F5344CB8AC3E}">
        <p14:creationId xmlns:p14="http://schemas.microsoft.com/office/powerpoint/2010/main" val="1908140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184;p30"/>
          <p:cNvSpPr txBox="1">
            <a:spLocks noGrp="1"/>
          </p:cNvSpPr>
          <p:nvPr>
            <p:ph type="title"/>
          </p:nvPr>
        </p:nvSpPr>
        <p:spPr>
          <a:xfrm>
            <a:off x="609600" y="119270"/>
            <a:ext cx="10971213" cy="1296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  <a:buSzPts val="3000"/>
            </a:pPr>
            <a:r>
              <a:rPr lang="en-IN" sz="3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ENTITIES USED</a:t>
            </a:r>
            <a:endParaRPr lang="en-US" sz="3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0" name="Google Shape;185;p3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877679" cy="861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1" name="Google Shape;186;p30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185469" y="214313"/>
            <a:ext cx="1066800" cy="8613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F6A5AE-C6FE-4760-E4C7-97A900A5F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799" y="1170747"/>
            <a:ext cx="10512814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 entities and attributes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Entities: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Admin, Employee, Member, Books, Author, Publisher,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Vendor, Library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Attributes include: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ID, Name, Contact Number, Address, Book Status,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 Price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for maintaining library records in a structured database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184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  <a:buSzPts val="3000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MODULES </a:t>
            </a:r>
            <a:endParaRPr lang="en-US" sz="3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0" name="Google Shape;185;p3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1" name="Google Shape;186;p30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6794AD-6832-423B-A1BD-D9AB62C6B6B0}"/>
              </a:ext>
            </a:extLst>
          </p:cNvPr>
          <p:cNvSpPr txBox="1"/>
          <p:nvPr/>
        </p:nvSpPr>
        <p:spPr>
          <a:xfrm>
            <a:off x="831850" y="1791998"/>
            <a:ext cx="10748963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Controls the overall library system and manages employees and records.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day-to-day library operations and manages member requests.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Member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Stores and manages member details and library usage information.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Books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Maintains book records, price, and availability status.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184;p30"/>
          <p:cNvSpPr txBox="1">
            <a:spLocks noGrp="1"/>
          </p:cNvSpPr>
          <p:nvPr>
            <p:ph type="title"/>
          </p:nvPr>
        </p:nvSpPr>
        <p:spPr>
          <a:xfrm>
            <a:off x="831850" y="1775447"/>
            <a:ext cx="10329793" cy="354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5.Author Module: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Stores details of authors related to books. </a:t>
            </a:r>
            <a:b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Publisher Module: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Manages publisher information for books. </a:t>
            </a:r>
            <a:b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Vendor Module: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Stores vendor details for book supply. </a:t>
            </a:r>
            <a:b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 Module: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Maintains overall library information such as        name, address, and contact details. </a:t>
            </a:r>
            <a:b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0" name="Google Shape;185;p3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1" name="Google Shape;186;p30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760393" y="100330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CBED1CE-FF7C-81AA-0ACF-59ED3B238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6F9BD0-9C44-3FC1-1F90-FDD09F5388D6}"/>
              </a:ext>
            </a:extLst>
          </p:cNvPr>
          <p:cNvSpPr txBox="1"/>
          <p:nvPr/>
        </p:nvSpPr>
        <p:spPr>
          <a:xfrm>
            <a:off x="4461013" y="656091"/>
            <a:ext cx="2965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IMPLEMENTATION</a:t>
            </a:r>
          </a:p>
        </p:txBody>
      </p:sp>
      <p:pic>
        <p:nvPicPr>
          <p:cNvPr id="2097168" name="Google Shape;248;p3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9" name="Google Shape;249;p37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784523" y="0"/>
            <a:ext cx="121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44">
            <a:extLst>
              <a:ext uri="{FF2B5EF4-FFF2-40B4-BE49-F238E27FC236}">
                <a16:creationId xmlns:a16="http://schemas.microsoft.com/office/drawing/2014/main" id="{893F841F-BBE5-C4D0-3D19-0C6499E3170F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878666" y="2056195"/>
            <a:ext cx="6254044" cy="30834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ED4579-2E51-3E43-3E1F-718796D39CFA}"/>
              </a:ext>
            </a:extLst>
          </p:cNvPr>
          <p:cNvSpPr txBox="1"/>
          <p:nvPr/>
        </p:nvSpPr>
        <p:spPr>
          <a:xfrm>
            <a:off x="4226939" y="1318271"/>
            <a:ext cx="3736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 DATABASE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48;p37">
            <a:extLst>
              <a:ext uri="{FF2B5EF4-FFF2-40B4-BE49-F238E27FC236}">
                <a16:creationId xmlns:a16="http://schemas.microsoft.com/office/drawing/2014/main" id="{4F3FD853-0BDC-9E7A-F0B6-393CEBBA6320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9ABF9535-84F6-9D86-6C8B-1521DA6A9062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784523" y="0"/>
            <a:ext cx="121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 45">
            <a:extLst>
              <a:ext uri="{FF2B5EF4-FFF2-40B4-BE49-F238E27FC236}">
                <a16:creationId xmlns:a16="http://schemas.microsoft.com/office/drawing/2014/main" id="{5FD05FC3-31F3-C6D7-3253-F4A0B065D95F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79118" y="1811867"/>
            <a:ext cx="8024438" cy="38212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B630F9-9207-8276-0CDA-16F5E821E78A}"/>
              </a:ext>
            </a:extLst>
          </p:cNvPr>
          <p:cNvSpPr txBox="1"/>
          <p:nvPr/>
        </p:nvSpPr>
        <p:spPr>
          <a:xfrm>
            <a:off x="4436533" y="613128"/>
            <a:ext cx="40583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3000" b="1" dirty="0"/>
          </a:p>
        </p:txBody>
      </p:sp>
    </p:spTree>
    <p:extLst>
      <p:ext uri="{BB962C8B-B14F-4D97-AF65-F5344CB8AC3E}">
        <p14:creationId xmlns:p14="http://schemas.microsoft.com/office/powerpoint/2010/main" val="1019132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IMPLEMENTATION</a:t>
            </a:r>
          </a:p>
        </p:txBody>
      </p:sp>
      <p:pic>
        <p:nvPicPr>
          <p:cNvPr id="2097168" name="Google Shape;248;p3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9" name="Google Shape;249;p37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784523" y="0"/>
            <a:ext cx="121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46">
            <a:extLst>
              <a:ext uri="{FF2B5EF4-FFF2-40B4-BE49-F238E27FC236}">
                <a16:creationId xmlns:a16="http://schemas.microsoft.com/office/drawing/2014/main" id="{03624E86-4DA2-123C-FAD2-F62A529CB92D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823493" y="1958904"/>
            <a:ext cx="6862374" cy="35839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48;p37">
            <a:extLst>
              <a:ext uri="{FF2B5EF4-FFF2-40B4-BE49-F238E27FC236}">
                <a16:creationId xmlns:a16="http://schemas.microsoft.com/office/drawing/2014/main" id="{5D4E04F7-4AC0-7321-0B19-6648DD492608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62AB538C-B485-F3F2-2F77-91281DECF894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389412" y="214313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6B144F-E8EA-0265-E925-10CCCF7405EB}"/>
              </a:ext>
            </a:extLst>
          </p:cNvPr>
          <p:cNvSpPr txBox="1"/>
          <p:nvPr/>
        </p:nvSpPr>
        <p:spPr>
          <a:xfrm>
            <a:off x="3452813" y="4813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IMPLEMENTATION</a:t>
            </a:r>
            <a:endParaRPr lang="en-IN" sz="2800" dirty="0"/>
          </a:p>
        </p:txBody>
      </p:sp>
      <p:pic>
        <p:nvPicPr>
          <p:cNvPr id="2" name="Image 47">
            <a:extLst>
              <a:ext uri="{FF2B5EF4-FFF2-40B4-BE49-F238E27FC236}">
                <a16:creationId xmlns:a16="http://schemas.microsoft.com/office/drawing/2014/main" id="{4E48F15E-529B-F662-C50A-685ED6436CDB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72105" y="1855929"/>
            <a:ext cx="6768606" cy="370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75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48;p37">
            <a:extLst>
              <a:ext uri="{FF2B5EF4-FFF2-40B4-BE49-F238E27FC236}">
                <a16:creationId xmlns:a16="http://schemas.microsoft.com/office/drawing/2014/main" id="{2AF2971E-C896-CB36-664F-15EEBD3C7B37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BBD92070-2EF1-FD67-6264-B8091AD296E8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389412" y="214313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065949-2C27-8095-FB61-B88A585DC33D}"/>
              </a:ext>
            </a:extLst>
          </p:cNvPr>
          <p:cNvSpPr txBox="1"/>
          <p:nvPr/>
        </p:nvSpPr>
        <p:spPr>
          <a:xfrm>
            <a:off x="2698044" y="58906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800" dirty="0"/>
          </a:p>
        </p:txBody>
      </p:sp>
      <p:pic>
        <p:nvPicPr>
          <p:cNvPr id="2" name="Image 48">
            <a:extLst>
              <a:ext uri="{FF2B5EF4-FFF2-40B4-BE49-F238E27FC236}">
                <a16:creationId xmlns:a16="http://schemas.microsoft.com/office/drawing/2014/main" id="{92E8FF95-C2A7-DE29-0C7B-6FC7739209B0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4774" y="1910714"/>
            <a:ext cx="7202452" cy="365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17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48;p37">
            <a:extLst>
              <a:ext uri="{FF2B5EF4-FFF2-40B4-BE49-F238E27FC236}">
                <a16:creationId xmlns:a16="http://schemas.microsoft.com/office/drawing/2014/main" id="{42E4E044-E7D2-93FF-9115-383AEC9DE3C6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9B513B03-148E-B203-D4A1-C58BF43E3B9A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389412" y="214313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7F7793-C303-BC63-A6F4-B9CDFC321199}"/>
              </a:ext>
            </a:extLst>
          </p:cNvPr>
          <p:cNvSpPr txBox="1"/>
          <p:nvPr/>
        </p:nvSpPr>
        <p:spPr>
          <a:xfrm>
            <a:off x="3048000" y="54325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800" dirty="0"/>
          </a:p>
        </p:txBody>
      </p:sp>
      <p:pic>
        <p:nvPicPr>
          <p:cNvPr id="2" name="Image 49">
            <a:extLst>
              <a:ext uri="{FF2B5EF4-FFF2-40B4-BE49-F238E27FC236}">
                <a16:creationId xmlns:a16="http://schemas.microsoft.com/office/drawing/2014/main" id="{2AE92E0A-D70C-4CBE-1BA7-6487718452E9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65778" y="1854270"/>
            <a:ext cx="7199101" cy="383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12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48;p37">
            <a:extLst>
              <a:ext uri="{FF2B5EF4-FFF2-40B4-BE49-F238E27FC236}">
                <a16:creationId xmlns:a16="http://schemas.microsoft.com/office/drawing/2014/main" id="{FF43064D-9926-A608-D672-E97042D8A114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BCF53BF3-9D6C-28E5-56BE-8BFFC0A91C49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02300" y="57073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0D5B58-FC2C-8590-1C1C-0670869C330A}"/>
              </a:ext>
            </a:extLst>
          </p:cNvPr>
          <p:cNvSpPr txBox="1"/>
          <p:nvPr/>
        </p:nvSpPr>
        <p:spPr>
          <a:xfrm>
            <a:off x="2777066" y="64762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800" dirty="0"/>
          </a:p>
        </p:txBody>
      </p:sp>
      <p:pic>
        <p:nvPicPr>
          <p:cNvPr id="2" name="Image 50">
            <a:extLst>
              <a:ext uri="{FF2B5EF4-FFF2-40B4-BE49-F238E27FC236}">
                <a16:creationId xmlns:a16="http://schemas.microsoft.com/office/drawing/2014/main" id="{B00A2EC6-BC61-CBDB-CC24-6810FAC9258F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69597" y="1920557"/>
            <a:ext cx="6755025" cy="35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682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48;p37">
            <a:extLst>
              <a:ext uri="{FF2B5EF4-FFF2-40B4-BE49-F238E27FC236}">
                <a16:creationId xmlns:a16="http://schemas.microsoft.com/office/drawing/2014/main" id="{C2DD58EF-41A6-0A49-80D7-C0C72A13F1E0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0B3911-1EB5-208A-2279-C7E70A3299AA}"/>
              </a:ext>
            </a:extLst>
          </p:cNvPr>
          <p:cNvSpPr txBox="1"/>
          <p:nvPr/>
        </p:nvSpPr>
        <p:spPr>
          <a:xfrm>
            <a:off x="2827722" y="4813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800" dirty="0"/>
          </a:p>
        </p:txBody>
      </p:sp>
      <p:pic>
        <p:nvPicPr>
          <p:cNvPr id="10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1FCE7E71-2429-7DEE-047D-BBB0F0DBA7A9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479722" y="152400"/>
            <a:ext cx="121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51">
            <a:extLst>
              <a:ext uri="{FF2B5EF4-FFF2-40B4-BE49-F238E27FC236}">
                <a16:creationId xmlns:a16="http://schemas.microsoft.com/office/drawing/2014/main" id="{56D12E90-150F-07F0-EE93-666AB538B9F1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50548" y="1758667"/>
            <a:ext cx="7282075" cy="386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677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48;p37">
            <a:extLst>
              <a:ext uri="{FF2B5EF4-FFF2-40B4-BE49-F238E27FC236}">
                <a16:creationId xmlns:a16="http://schemas.microsoft.com/office/drawing/2014/main" id="{00D9B73A-7BFC-60FD-5CBA-E6FCECD96486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49;p37" descr="KRCE Tiruchirappalli : Admission 2024, Courses, Fees, Placement, Cut Off">
            <a:extLst>
              <a:ext uri="{FF2B5EF4-FFF2-40B4-BE49-F238E27FC236}">
                <a16:creationId xmlns:a16="http://schemas.microsoft.com/office/drawing/2014/main" id="{28A7BAFE-7DC9-5F20-8226-9630C3F0AA5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479722" y="152400"/>
            <a:ext cx="1219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FCFCCC-4426-4F86-1E23-AD664F8D6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749" y="1694797"/>
            <a:ext cx="5578323" cy="10287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227316-9904-EFBF-0EE3-8A9F21BDA7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2749" y="3056467"/>
            <a:ext cx="5780718" cy="14555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DE373D-8F28-450C-D001-7132FF5963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749" y="4967426"/>
            <a:ext cx="6361746" cy="16536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67501E4-8FA7-DC16-8854-BB97DE1E4834}"/>
              </a:ext>
            </a:extLst>
          </p:cNvPr>
          <p:cNvSpPr txBox="1"/>
          <p:nvPr/>
        </p:nvSpPr>
        <p:spPr>
          <a:xfrm>
            <a:off x="4809067" y="880533"/>
            <a:ext cx="4154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DATABASE</a:t>
            </a:r>
          </a:p>
        </p:txBody>
      </p:sp>
    </p:spTree>
    <p:extLst>
      <p:ext uri="{BB962C8B-B14F-4D97-AF65-F5344CB8AC3E}">
        <p14:creationId xmlns:p14="http://schemas.microsoft.com/office/powerpoint/2010/main" val="1450948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CONCLUSION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78" name="Google Shape;248;p3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9" name="Google Shape;249;p37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4A3D8AC6-E391-480F-6802-E496A2ACF1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5987" y="1250774"/>
            <a:ext cx="1044416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 improves record handling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Makes issue and return process easier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data in an organized way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errors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faster access to information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FUTURE SCOPE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80" name="Google Shape;248;p3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1" name="Google Shape;249;p37" descr="KRCE Tiruchirappalli : Admission 2024, Courses, Fees, Placement, Cut Off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B1D06-B467-01CB-6D9B-D986B961C7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5987" y="1029585"/>
            <a:ext cx="962183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book reservation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Barcode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 calculation automation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Email/SMS notification for due dates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login portal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database support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report dashboard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440</Words>
  <Application>Microsoft Office PowerPoint</Application>
  <PresentationFormat>Widescreen</PresentationFormat>
  <Paragraphs>101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Arial</vt:lpstr>
      <vt:lpstr>Times New Roman</vt:lpstr>
      <vt:lpstr>Office Theme</vt:lpstr>
      <vt:lpstr>1_Office Theme</vt:lpstr>
      <vt:lpstr>PowerPoint Presentation</vt:lpstr>
      <vt:lpstr>PRESENTATION OVERVIEW</vt:lpstr>
      <vt:lpstr>OBJECTIVE</vt:lpstr>
      <vt:lpstr>PROBLEM ANALYSIS</vt:lpstr>
      <vt:lpstr>SYSTEM ARCHITECTURE</vt:lpstr>
      <vt:lpstr>METHODOLOGY </vt:lpstr>
      <vt:lpstr>ENTITIES USED</vt:lpstr>
      <vt:lpstr>MODULES </vt:lpstr>
      <vt:lpstr>5.Author Module: Stores details of authors related to books.  6.Publisher Module: Manages publisher information for books.  7.Vendor Module: Stores vendor details for book supply.  8.Library Module: Maintains overall library information such as        name, address, and contact details.  </vt:lpstr>
      <vt:lpstr>IMPLEMENTATION</vt:lpstr>
      <vt:lpstr>PowerPoint Presentation</vt:lpstr>
      <vt:lpstr>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EXAM</dc:creator>
  <cp:lastModifiedBy>Srikanishka SSK</cp:lastModifiedBy>
  <cp:revision>24</cp:revision>
  <dcterms:created xsi:type="dcterms:W3CDTF">2025-06-04T17:03:00Z</dcterms:created>
  <dcterms:modified xsi:type="dcterms:W3CDTF">2026-05-05T16:13:56Z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1EA8E5E318EE406A9B969149547CED59_12</vt:lpwstr>
  </property>
  <property fmtid="{D5CDD505-2E9C-101B-9397-08002B2CF9AE}" pid="3" name="KSOProductBuildVer">
    <vt:lpwstr>1033-12.2.0.23155</vt:lpwstr>
  </property>
</Properties>
</file>